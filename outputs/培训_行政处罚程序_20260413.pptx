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520000"/>
            <a:ext cx="1075212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700000"/>
            <a:ext cx="1075212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环保执法实务培训</a:t>
            </a:r>
            <a:br/>
            <a:r>
              <a:t>行政处罚程序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0000"/>
            <a:ext cx="10752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8E8DC"/>
                </a:solidFill>
              </a:defRPr>
            </a:pPr>
            <a:r>
              <a:t>济南市生态环境局执法培训课程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760000"/>
            <a:ext cx="1075212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8E8DC"/>
                </a:solidFill>
              </a:defRPr>
            </a:pPr>
            <a:r>
              <a:t>济南市生态环境局 | 2026年04月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800000" cy="1098000"/>
          </a:xfrm>
          <a:prstGeom prst="rect">
            <a:avLst/>
          </a:prstGeom>
          <a:solidFill>
            <a:srgbClr val="D8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288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一、行政处罚程序概述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行政处罚程序总览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09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简易程序：事实清楚、证据确凿，执法人员当场作出处罚决定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一般程序：立案→调查→告知→决定→送达→执行（标准流程）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听证程序：当事人要求听证的，应在3日内提出，7日前通知听证时间地点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执行程序：当事人自觉履行 → 逾期加处罚款 → 申请法院强制执行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结案归档：处罚决定执行完毕后5日内填写结案报告，归档保存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9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📌 注：一般程序是最常用的行政处罚程序，约占80%的案件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800000" cy="1098000"/>
          </a:xfrm>
          <a:prstGeom prst="rect">
            <a:avLst/>
          </a:prstGeom>
          <a:solidFill>
            <a:srgbClr val="D8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288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二、立案条件与管辖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立案条件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09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① 发现或接到违法行为线索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② 有明确违法嫌疑人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③ 属于本机关管辖范围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④ 依法应当给予行政处罚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⑤ 违法行为仍在追诉时效内（一般为2年）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9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📌 管辖原则：违法行为发生地 &gt; 结果发生地 &gt; 嫌疑人住所地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不予立案情形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09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① 违法行为轻微并及时纠正，没有造成危害后果的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② 超过行政处罚时效（违法行为终了之日起2年）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③ 不属于本机关管辖范围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④ 涉嫌犯罪需移送司法机关的（不适用行政处罚）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⑤ 其他依法不予处罚的情形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800000" cy="1098000"/>
          </a:xfrm>
          <a:prstGeom prst="rect">
            <a:avLst/>
          </a:prstGeom>
          <a:solidFill>
            <a:srgbClr val="D8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288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三、调查取证规范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现场检查要点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09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亮证执法：出示行政执法证件，不少于2名执法人员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现场笔录：客观记录时间、地点、人物、事实、证据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视听资料：现场拍照、录像，记录原始状态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采样监测：依法采样，填写采样记录，委托有资质机构检测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书证调取：环评批复、排污许可证、运行台账、用电记录等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9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📌 证据"三性"要求：真实性、合法性、关联性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询问调查技巧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09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告知程序：告知被询问人权利义务，如实回答义务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单刀直入：直接针对违法行为核心问题提问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细节追问：对时间、地点、方式、数量等关键细节深挖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证据印证：通过书面证据与口供相互印证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禁止事项：不得威胁、引诱、欺骗被询问人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800000" cy="1098000"/>
          </a:xfrm>
          <a:prstGeom prst="rect">
            <a:avLst/>
          </a:prstGeom>
          <a:solidFill>
            <a:srgbClr val="D8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288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四、行政处罚裁量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裁量基本原则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09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过罚相当：处罚种类和幅度与违法行为的性质、情节相适应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公平公正：同类案件同等处理，不因当事人身份区别对待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程序正当：严格遵循法定程序，保障当事人陈述申辩权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教育与处罚相结合：处罚不是目的，促进守法才是目标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9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📌 山东省生态环境厅已发布裁量基准表，对主要违法行为明确了细化标准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裁量因素参考表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52000"/>
          <a:ext cx="1098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000"/>
                <a:gridCol w="3660000"/>
                <a:gridCol w="36600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情形类别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从轻因素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从重因素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主观过错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主动停止/消除危害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故意违法/恶意逃避监管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违法持续时间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&lt; 30天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&gt; 180天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配合调查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如实陈述/主动提交证据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拒绝调查/销毁证据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整改态度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积极整改/消除污染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拒不整改/继续违法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危害后果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未造成明显危害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造成人群健康损害/重大环境污染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800000" cy="1098000"/>
          </a:xfrm>
          <a:prstGeom prst="rect">
            <a:avLst/>
          </a:prstGeom>
          <a:solidFill>
            <a:srgbClr val="D8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0" y="288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五、典型案例警示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违法类型与处罚对照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52000"/>
          <a:ext cx="1098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61714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违法类型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主要法条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罚款区间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典型后果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私设暗管偷排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水法第83条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10-100万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停产停业+强制执行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超标排放大气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大气法第99条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10-100万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责令限制生产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危废非法倾倒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固废法第112条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10-100万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移送公安机关（危废≥3吨入刑）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未批先建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环评法第31条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总投资额1-5%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责令停建+罚款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无证排污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排污许可条例33条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20-100万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责令限制生产/停业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监测数据造假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大气法第100条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10-100万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移送公安（破坏计算机信息系统罪）</a:t>
                      </a:r>
                    </a:p>
                  </a:txBody>
                  <a:tcPr>
                    <a:solidFill>
                      <a:srgbClr val="D8E8D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59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66666"/>
                </a:solidFill>
              </a:defRPr>
            </a:pPr>
            <a:r>
              <a:t>📌 提示：造成严重污染环境的，依据刑法第338条可处3-7年有期徒刑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执法风险提示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09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⚠ 程序风险：超期办案（一般程序应在90日内办结，可延长至180日）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⚠ 证据风险：取证实不规范导致证据无效（如采样不规范、无见证人）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⚠ 裁量风险：畸轻畸重面临行政复议或诉讼被撤销风险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⚠ 执行风险：超期申请法院强制执行（2年内）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• ✓ 防范措施：严格程序、规范取证、集体讨论、充分告知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63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